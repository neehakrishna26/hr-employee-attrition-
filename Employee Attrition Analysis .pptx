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layfair Display Medium"/>
      <p:regular r:id="rId15"/>
      <p:bold r:id="rId16"/>
      <p:italic r:id="rId17"/>
      <p:boldItalic r:id="rId18"/>
    </p:embeddedFont>
    <p:embeddedFont>
      <p:font typeface="Playfair Displ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layfairDisplayMedium-regular.fntdata"/><Relationship Id="rId14" Type="http://schemas.openxmlformats.org/officeDocument/2006/relationships/slide" Target="slides/slide9.xml"/><Relationship Id="rId17" Type="http://schemas.openxmlformats.org/officeDocument/2006/relationships/font" Target="fonts/PlayfairDisplayMedium-italic.fntdata"/><Relationship Id="rId16" Type="http://schemas.openxmlformats.org/officeDocument/2006/relationships/font" Target="fonts/PlayfairDisplayMedium-bold.fntdata"/><Relationship Id="rId19" Type="http://schemas.openxmlformats.org/officeDocument/2006/relationships/font" Target="fonts/PlayfairDisplay-regular.fntdata"/><Relationship Id="rId18" Type="http://schemas.openxmlformats.org/officeDocument/2006/relationships/font" Target="fonts/PlayfairDisplay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21" name="Google Shape;21;p3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22" name="Google Shape;22;p3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23" name="Google Shape;23;p3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24" name="Google Shape;24;p3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3" name="Google Shape;33;p4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5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44" name="Google Shape;44;p5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45" name="Google Shape;45;p5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46" name="Google Shape;46;p5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47" name="Google Shape;47;p5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7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" name="Google Shape;64;p8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69" name="Google Shape;69;p8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8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71" name="Google Shape;71;p8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8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73" name="Google Shape;73;p8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8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8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8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9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0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92" name="Google Shape;92;p10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93" name="Google Shape;93;p10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94" name="Google Shape;94;p10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1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9" name="Google Shape;99;p11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1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1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05" name="Google Shape;105;p1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2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2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2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122" name="Google Shape;122;p12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123" name="Google Shape;123;p12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124" name="Google Shape;124;p12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125" name="Google Shape;125;p12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126" name="Google Shape;126;p12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127" name="Google Shape;127;p12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13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4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8" name="Google Shape;138;p1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46" name="Google Shape;146;p15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49" name="Google Shape;149;p15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8" name="Google Shape;158;p16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3" name="Google Shape;163;p16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4" name="Google Shape;164;p16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72" name="Google Shape;172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1" name="Google Shape;181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191" name="Google Shape;191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2" name="Google Shape;192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2" name="Google Shape;202;p2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3" name="Google Shape;203;p2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9" name="Google Shape;209;p2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" name="Google Shape;213;p3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4" name="Google Shape;214;p3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" name="Google Shape;215;p3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20" name="Google Shape;220;p3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3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3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3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" name="Google Shape;229;p3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30" name="Google Shape;230;p3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3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3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3" name="Google Shape;233;p3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" name="Google Shape;236;p3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9" name="Google Shape;239;p3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3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2" name="Google Shape;24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3" name="Google Shape;243;p3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4" name="Google Shape;244;p3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7" name="Google Shape;247;p3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0" name="Google Shape;250;p3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2" name="Google Shape;25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3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4" name="Google Shape;254;p3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5" name="Google Shape;255;p3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6" name="Google Shape;266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4.jpg"/><Relationship Id="rId5" Type="http://schemas.openxmlformats.org/officeDocument/2006/relationships/image" Target="../media/image1.jp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38"/>
          <p:cNvCxnSpPr/>
          <p:nvPr/>
        </p:nvCxnSpPr>
        <p:spPr>
          <a:xfrm rot="10800000">
            <a:off x="1339200" y="3539703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38"/>
          <p:cNvSpPr txBox="1"/>
          <p:nvPr>
            <p:ph idx="4294967295" type="title"/>
          </p:nvPr>
        </p:nvSpPr>
        <p:spPr>
          <a:xfrm>
            <a:off x="507150" y="1219875"/>
            <a:ext cx="8035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 Employee Attrition Analysis</a:t>
            </a:r>
            <a:endParaRPr/>
          </a:p>
        </p:txBody>
      </p:sp>
      <p:sp>
        <p:nvSpPr>
          <p:cNvPr id="275" name="Google Shape;275;p38"/>
          <p:cNvSpPr txBox="1"/>
          <p:nvPr/>
        </p:nvSpPr>
        <p:spPr>
          <a:xfrm>
            <a:off x="3524550" y="3142950"/>
            <a:ext cx="2188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IBM HR Attrition Dataset</a:t>
            </a:r>
            <a:endParaRPr b="0" i="0" sz="12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38"/>
          <p:cNvSpPr txBox="1"/>
          <p:nvPr/>
        </p:nvSpPr>
        <p:spPr>
          <a:xfrm>
            <a:off x="3430650" y="4473225"/>
            <a:ext cx="21888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endParaRPr b="0" i="0" sz="12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A. Neeha Krishna</a:t>
            </a:r>
            <a:endParaRPr b="0" i="0" sz="12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>
            <p:ph idx="7" type="title"/>
          </p:nvPr>
        </p:nvSpPr>
        <p:spPr>
          <a:xfrm>
            <a:off x="440011" y="457200"/>
            <a:ext cx="8430463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282" name="Google Shape;282;p39"/>
          <p:cNvSpPr txBox="1"/>
          <p:nvPr>
            <p:ph type="title"/>
          </p:nvPr>
        </p:nvSpPr>
        <p:spPr>
          <a:xfrm>
            <a:off x="440011" y="1482850"/>
            <a:ext cx="3342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1. Introduction</a:t>
            </a:r>
            <a:endParaRPr/>
          </a:p>
        </p:txBody>
      </p:sp>
      <p:sp>
        <p:nvSpPr>
          <p:cNvPr id="283" name="Google Shape;283;p39"/>
          <p:cNvSpPr txBox="1"/>
          <p:nvPr>
            <p:ph idx="2" type="title"/>
          </p:nvPr>
        </p:nvSpPr>
        <p:spPr>
          <a:xfrm>
            <a:off x="440010" y="1997477"/>
            <a:ext cx="3342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2. Objectives</a:t>
            </a:r>
            <a:endParaRPr/>
          </a:p>
        </p:txBody>
      </p:sp>
      <p:sp>
        <p:nvSpPr>
          <p:cNvPr id="284" name="Google Shape;284;p39"/>
          <p:cNvSpPr txBox="1"/>
          <p:nvPr>
            <p:ph idx="3" type="title"/>
          </p:nvPr>
        </p:nvSpPr>
        <p:spPr>
          <a:xfrm>
            <a:off x="440011" y="2527584"/>
            <a:ext cx="3342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3. KPIs Used</a:t>
            </a:r>
            <a:endParaRPr/>
          </a:p>
        </p:txBody>
      </p:sp>
      <p:sp>
        <p:nvSpPr>
          <p:cNvPr id="285" name="Google Shape;285;p39"/>
          <p:cNvSpPr txBox="1"/>
          <p:nvPr>
            <p:ph idx="4" type="title"/>
          </p:nvPr>
        </p:nvSpPr>
        <p:spPr>
          <a:xfrm>
            <a:off x="440010" y="3082569"/>
            <a:ext cx="3342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4. Data Dictionary</a:t>
            </a:r>
            <a:endParaRPr/>
          </a:p>
        </p:txBody>
      </p:sp>
      <p:sp>
        <p:nvSpPr>
          <p:cNvPr id="286" name="Google Shape;286;p39"/>
          <p:cNvSpPr txBox="1"/>
          <p:nvPr>
            <p:ph idx="5" type="title"/>
          </p:nvPr>
        </p:nvSpPr>
        <p:spPr>
          <a:xfrm>
            <a:off x="440010" y="3612676"/>
            <a:ext cx="3342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5. Data Cleaning</a:t>
            </a:r>
            <a:endParaRPr/>
          </a:p>
        </p:txBody>
      </p:sp>
      <p:sp>
        <p:nvSpPr>
          <p:cNvPr id="287" name="Google Shape;287;p39"/>
          <p:cNvSpPr txBox="1"/>
          <p:nvPr>
            <p:ph idx="6" type="title"/>
          </p:nvPr>
        </p:nvSpPr>
        <p:spPr>
          <a:xfrm>
            <a:off x="440010" y="4183141"/>
            <a:ext cx="3342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6. Insights</a:t>
            </a:r>
            <a:endParaRPr/>
          </a:p>
        </p:txBody>
      </p:sp>
      <p:sp>
        <p:nvSpPr>
          <p:cNvPr id="288" name="Google Shape;288;p3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/>
          <p:nvPr>
            <p:ph type="title"/>
          </p:nvPr>
        </p:nvSpPr>
        <p:spPr>
          <a:xfrm>
            <a:off x="385011" y="457200"/>
            <a:ext cx="6323964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94" name="Google Shape;294;p4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40"/>
          <p:cNvSpPr txBox="1"/>
          <p:nvPr>
            <p:ph idx="3" type="subTitle"/>
          </p:nvPr>
        </p:nvSpPr>
        <p:spPr>
          <a:xfrm>
            <a:off x="276075" y="1310375"/>
            <a:ext cx="4747500" cy="1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just">
              <a:lnSpc>
                <a:spcPct val="150084"/>
              </a:lnSpc>
              <a:spcBef>
                <a:spcPts val="0"/>
              </a:spcBef>
              <a:spcAft>
                <a:spcPts val="0"/>
              </a:spcAft>
              <a:buSzPts val="1179"/>
              <a:buChar char="❖"/>
            </a:pPr>
            <a:r>
              <a:rPr lang="en" sz="16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Employee attrition refers to the rate at which employees leave an organization over time. </a:t>
            </a:r>
            <a:endParaRPr sz="1600"/>
          </a:p>
        </p:txBody>
      </p:sp>
      <p:sp>
        <p:nvSpPr>
          <p:cNvPr id="296" name="Google Shape;296;p40"/>
          <p:cNvSpPr txBox="1"/>
          <p:nvPr>
            <p:ph idx="3" type="subTitle"/>
          </p:nvPr>
        </p:nvSpPr>
        <p:spPr>
          <a:xfrm>
            <a:off x="168825" y="2361650"/>
            <a:ext cx="4962000" cy="1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3466" lvl="0" marL="457200" rtl="0" algn="just">
              <a:lnSpc>
                <a:spcPct val="150084"/>
              </a:lnSpc>
              <a:spcBef>
                <a:spcPts val="0"/>
              </a:spcBef>
              <a:spcAft>
                <a:spcPts val="0"/>
              </a:spcAft>
              <a:buSzPts val="1179"/>
              <a:buChar char="❖"/>
            </a:pPr>
            <a:r>
              <a:rPr lang="en" sz="16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This project uses data driven insights to understand why employees leave and how organizations can improve retention</a:t>
            </a:r>
            <a:endParaRPr sz="1600"/>
          </a:p>
        </p:txBody>
      </p:sp>
      <p:pic>
        <p:nvPicPr>
          <p:cNvPr id="297" name="Google Shape;297;p40"/>
          <p:cNvPicPr preferRelativeResize="0"/>
          <p:nvPr/>
        </p:nvPicPr>
        <p:blipFill rotWithShape="1">
          <a:blip r:embed="rId3">
            <a:alphaModFix/>
          </a:blip>
          <a:srcRect b="30461" l="0" r="0" t="32983"/>
          <a:stretch/>
        </p:blipFill>
        <p:spPr>
          <a:xfrm>
            <a:off x="5398850" y="1214225"/>
            <a:ext cx="3658299" cy="22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 txBox="1"/>
          <p:nvPr>
            <p:ph idx="3" type="subTitle"/>
          </p:nvPr>
        </p:nvSpPr>
        <p:spPr>
          <a:xfrm>
            <a:off x="276225" y="3842525"/>
            <a:ext cx="49620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3466" lvl="0" marL="457200" rtl="0" algn="just">
              <a:lnSpc>
                <a:spcPct val="150084"/>
              </a:lnSpc>
              <a:spcBef>
                <a:spcPts val="0"/>
              </a:spcBef>
              <a:spcAft>
                <a:spcPts val="0"/>
              </a:spcAft>
              <a:buSzPts val="1179"/>
              <a:buChar char="❖"/>
            </a:pPr>
            <a:r>
              <a:rPr lang="en" sz="16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Findings support HRs to focus on </a:t>
            </a:r>
            <a:r>
              <a:rPr lang="en" sz="16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satisfaction</a:t>
            </a:r>
            <a:r>
              <a:rPr lang="en" sz="16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, workforce and engagement of employees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397500" y="569362"/>
            <a:ext cx="6311475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304" name="Google Shape;304;p4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1"/>
          <p:cNvSpPr txBox="1"/>
          <p:nvPr>
            <p:ph idx="1" type="subTitle"/>
          </p:nvPr>
        </p:nvSpPr>
        <p:spPr>
          <a:xfrm>
            <a:off x="397500" y="1404200"/>
            <a:ext cx="51888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just">
              <a:lnSpc>
                <a:spcPct val="150084"/>
              </a:lnSpc>
              <a:spcBef>
                <a:spcPts val="0"/>
              </a:spcBef>
              <a:spcAft>
                <a:spcPts val="0"/>
              </a:spcAft>
              <a:buSzPts val="1179"/>
              <a:buChar char="❖"/>
            </a:pPr>
            <a:r>
              <a:rPr lang="en" sz="18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Analyze Employee Attrition trends</a:t>
            </a:r>
            <a:endParaRPr sz="1800"/>
          </a:p>
        </p:txBody>
      </p:sp>
      <p:sp>
        <p:nvSpPr>
          <p:cNvPr id="306" name="Google Shape;306;p41"/>
          <p:cNvSpPr txBox="1"/>
          <p:nvPr>
            <p:ph idx="1" type="subTitle"/>
          </p:nvPr>
        </p:nvSpPr>
        <p:spPr>
          <a:xfrm>
            <a:off x="397500" y="2120900"/>
            <a:ext cx="51888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just">
              <a:lnSpc>
                <a:spcPct val="150084"/>
              </a:lnSpc>
              <a:spcBef>
                <a:spcPts val="0"/>
              </a:spcBef>
              <a:spcAft>
                <a:spcPts val="0"/>
              </a:spcAft>
              <a:buSzPts val="1179"/>
              <a:buChar char="❖"/>
            </a:pPr>
            <a:r>
              <a:rPr lang="en" sz="18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Identify factors influencing attrition (age, salary, job satisfaction).</a:t>
            </a:r>
            <a:endParaRPr sz="1800"/>
          </a:p>
        </p:txBody>
      </p:sp>
      <p:sp>
        <p:nvSpPr>
          <p:cNvPr id="307" name="Google Shape;307;p41"/>
          <p:cNvSpPr txBox="1"/>
          <p:nvPr>
            <p:ph idx="1" type="subTitle"/>
          </p:nvPr>
        </p:nvSpPr>
        <p:spPr>
          <a:xfrm>
            <a:off x="468900" y="3110075"/>
            <a:ext cx="51888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just">
              <a:lnSpc>
                <a:spcPct val="150084"/>
              </a:lnSpc>
              <a:spcBef>
                <a:spcPts val="0"/>
              </a:spcBef>
              <a:spcAft>
                <a:spcPts val="0"/>
              </a:spcAft>
              <a:buSzPts val="1179"/>
              <a:buChar char="❖"/>
            </a:pPr>
            <a:r>
              <a:rPr lang="en" sz="18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Provide insights to improve retention</a:t>
            </a:r>
            <a:endParaRPr sz="1800"/>
          </a:p>
        </p:txBody>
      </p:sp>
      <p:pic>
        <p:nvPicPr>
          <p:cNvPr id="308" name="Google Shape;308;p41" title="Gemini_Generated_Image_6ifv3v6ifv3v6if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1750" y="1071899"/>
            <a:ext cx="2814700" cy="28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276075" y="457200"/>
            <a:ext cx="5000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KPIs Used:</a:t>
            </a:r>
            <a:endParaRPr/>
          </a:p>
        </p:txBody>
      </p:sp>
      <p:sp>
        <p:nvSpPr>
          <p:cNvPr id="314" name="Google Shape;314;p4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42"/>
          <p:cNvSpPr txBox="1"/>
          <p:nvPr>
            <p:ph idx="15" type="subTitle"/>
          </p:nvPr>
        </p:nvSpPr>
        <p:spPr>
          <a:xfrm>
            <a:off x="3314725" y="1334735"/>
            <a:ext cx="3825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42"/>
          <p:cNvSpPr txBox="1"/>
          <p:nvPr>
            <p:ph idx="14" type="subTitle"/>
          </p:nvPr>
        </p:nvSpPr>
        <p:spPr>
          <a:xfrm>
            <a:off x="447475" y="1334723"/>
            <a:ext cx="3825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p42"/>
          <p:cNvSpPr txBox="1"/>
          <p:nvPr>
            <p:ph idx="16" type="subTitle"/>
          </p:nvPr>
        </p:nvSpPr>
        <p:spPr>
          <a:xfrm>
            <a:off x="6517650" y="1334723"/>
            <a:ext cx="3825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8" name="Google Shape;318;p42"/>
          <p:cNvSpPr txBox="1"/>
          <p:nvPr>
            <p:ph idx="17" type="subTitle"/>
          </p:nvPr>
        </p:nvSpPr>
        <p:spPr>
          <a:xfrm>
            <a:off x="5605475" y="3302085"/>
            <a:ext cx="3825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42"/>
          <p:cNvSpPr txBox="1"/>
          <p:nvPr>
            <p:ph idx="3" type="subTitle"/>
          </p:nvPr>
        </p:nvSpPr>
        <p:spPr>
          <a:xfrm>
            <a:off x="447478" y="1586096"/>
            <a:ext cx="197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/>
              <a:t>Attrition Rate</a:t>
            </a:r>
            <a:endParaRPr sz="1800"/>
          </a:p>
        </p:txBody>
      </p:sp>
      <p:sp>
        <p:nvSpPr>
          <p:cNvPr id="320" name="Google Shape;320;p42"/>
          <p:cNvSpPr txBox="1"/>
          <p:nvPr>
            <p:ph idx="4" type="subTitle"/>
          </p:nvPr>
        </p:nvSpPr>
        <p:spPr>
          <a:xfrm>
            <a:off x="3370078" y="1586100"/>
            <a:ext cx="271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/>
              <a:t>Average Monthly Income</a:t>
            </a:r>
            <a:endParaRPr sz="1800"/>
          </a:p>
        </p:txBody>
      </p:sp>
      <p:sp>
        <p:nvSpPr>
          <p:cNvPr id="321" name="Google Shape;321;p42"/>
          <p:cNvSpPr txBox="1"/>
          <p:nvPr>
            <p:ph idx="5" type="subTitle"/>
          </p:nvPr>
        </p:nvSpPr>
        <p:spPr>
          <a:xfrm>
            <a:off x="6517663" y="1586096"/>
            <a:ext cx="197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/>
              <a:t>Average Tenure</a:t>
            </a:r>
            <a:endParaRPr sz="1800"/>
          </a:p>
        </p:txBody>
      </p:sp>
      <p:sp>
        <p:nvSpPr>
          <p:cNvPr id="322" name="Google Shape;322;p42"/>
          <p:cNvSpPr txBox="1"/>
          <p:nvPr>
            <p:ph idx="6" type="subTitle"/>
          </p:nvPr>
        </p:nvSpPr>
        <p:spPr>
          <a:xfrm>
            <a:off x="2260075" y="3530497"/>
            <a:ext cx="255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/>
              <a:t>Overtime Percentage</a:t>
            </a:r>
            <a:endParaRPr sz="1800"/>
          </a:p>
        </p:txBody>
      </p:sp>
      <p:sp>
        <p:nvSpPr>
          <p:cNvPr id="323" name="Google Shape;323;p42"/>
          <p:cNvSpPr txBox="1"/>
          <p:nvPr>
            <p:ph idx="7" type="body"/>
          </p:nvPr>
        </p:nvSpPr>
        <p:spPr>
          <a:xfrm>
            <a:off x="447475" y="2079521"/>
            <a:ext cx="2195100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Measures the percentage of employees leaving the organization over a specific period</a:t>
            </a:r>
            <a:endParaRPr sz="1400"/>
          </a:p>
        </p:txBody>
      </p:sp>
      <p:sp>
        <p:nvSpPr>
          <p:cNvPr id="324" name="Google Shape;324;p42"/>
          <p:cNvSpPr txBox="1"/>
          <p:nvPr>
            <p:ph idx="8" type="body"/>
          </p:nvPr>
        </p:nvSpPr>
        <p:spPr>
          <a:xfrm>
            <a:off x="3432615" y="2079521"/>
            <a:ext cx="1970100" cy="49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How salary levels differ by department or role</a:t>
            </a:r>
            <a:endParaRPr sz="1400"/>
          </a:p>
        </p:txBody>
      </p:sp>
      <p:sp>
        <p:nvSpPr>
          <p:cNvPr id="325" name="Google Shape;325;p42"/>
          <p:cNvSpPr txBox="1"/>
          <p:nvPr>
            <p:ph idx="9" type="body"/>
          </p:nvPr>
        </p:nvSpPr>
        <p:spPr>
          <a:xfrm>
            <a:off x="6517680" y="2079534"/>
            <a:ext cx="1970100" cy="49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How long employees typically stay</a:t>
            </a:r>
            <a:endParaRPr sz="1400"/>
          </a:p>
        </p:txBody>
      </p:sp>
      <p:sp>
        <p:nvSpPr>
          <p:cNvPr id="326" name="Google Shape;326;p42"/>
          <p:cNvSpPr txBox="1"/>
          <p:nvPr>
            <p:ph idx="13" type="body"/>
          </p:nvPr>
        </p:nvSpPr>
        <p:spPr>
          <a:xfrm>
            <a:off x="2260075" y="3973588"/>
            <a:ext cx="2724436" cy="49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Find if working overtime increases the chances of leaving</a:t>
            </a:r>
            <a:endParaRPr sz="1400"/>
          </a:p>
        </p:txBody>
      </p:sp>
      <p:sp>
        <p:nvSpPr>
          <p:cNvPr id="327" name="Google Shape;327;p42"/>
          <p:cNvSpPr txBox="1"/>
          <p:nvPr>
            <p:ph idx="17" type="subTitle"/>
          </p:nvPr>
        </p:nvSpPr>
        <p:spPr>
          <a:xfrm>
            <a:off x="2260075" y="3266685"/>
            <a:ext cx="38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42"/>
          <p:cNvSpPr txBox="1"/>
          <p:nvPr>
            <p:ph idx="6" type="subTitle"/>
          </p:nvPr>
        </p:nvSpPr>
        <p:spPr>
          <a:xfrm>
            <a:off x="5621700" y="3530497"/>
            <a:ext cx="255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/>
              <a:t>Job Satisfaction Index</a:t>
            </a:r>
            <a:endParaRPr sz="1800"/>
          </a:p>
        </p:txBody>
      </p:sp>
      <p:sp>
        <p:nvSpPr>
          <p:cNvPr id="329" name="Google Shape;329;p42"/>
          <p:cNvSpPr txBox="1"/>
          <p:nvPr>
            <p:ph idx="13" type="body"/>
          </p:nvPr>
        </p:nvSpPr>
        <p:spPr>
          <a:xfrm>
            <a:off x="5621699" y="3973588"/>
            <a:ext cx="2195389" cy="49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Measures the satisfaction levels of employees 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 Dictionary</a:t>
            </a:r>
            <a:endParaRPr/>
          </a:p>
        </p:txBody>
      </p:sp>
      <p:sp>
        <p:nvSpPr>
          <p:cNvPr id="335" name="Google Shape;335;p4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36" name="Google Shape;336;p43"/>
          <p:cNvGrpSpPr/>
          <p:nvPr/>
        </p:nvGrpSpPr>
        <p:grpSpPr>
          <a:xfrm>
            <a:off x="283125" y="1370593"/>
            <a:ext cx="8577741" cy="3157877"/>
            <a:chOff x="283125" y="2553350"/>
            <a:chExt cx="8577741" cy="2053503"/>
          </a:xfrm>
        </p:grpSpPr>
        <p:grpSp>
          <p:nvGrpSpPr>
            <p:cNvPr id="337" name="Google Shape;337;p43"/>
            <p:cNvGrpSpPr/>
            <p:nvPr/>
          </p:nvGrpSpPr>
          <p:grpSpPr>
            <a:xfrm>
              <a:off x="283133" y="2553350"/>
              <a:ext cx="8577733" cy="2053503"/>
              <a:chOff x="282633" y="2553525"/>
              <a:chExt cx="8577733" cy="2053503"/>
            </a:xfrm>
          </p:grpSpPr>
          <p:cxnSp>
            <p:nvCxnSpPr>
              <p:cNvPr id="338" name="Google Shape;338;p43"/>
              <p:cNvCxnSpPr/>
              <p:nvPr/>
            </p:nvCxnSpPr>
            <p:spPr>
              <a:xfrm rot="10800000">
                <a:off x="282633" y="255352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43"/>
              <p:cNvCxnSpPr/>
              <p:nvPr/>
            </p:nvCxnSpPr>
            <p:spPr>
              <a:xfrm rot="10800000">
                <a:off x="282633" y="2890797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43"/>
              <p:cNvCxnSpPr/>
              <p:nvPr/>
            </p:nvCxnSpPr>
            <p:spPr>
              <a:xfrm rot="10800000">
                <a:off x="282633" y="323716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43"/>
              <p:cNvCxnSpPr/>
              <p:nvPr/>
            </p:nvCxnSpPr>
            <p:spPr>
              <a:xfrm rot="10800000">
                <a:off x="282633" y="3573566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43"/>
              <p:cNvCxnSpPr/>
              <p:nvPr/>
            </p:nvCxnSpPr>
            <p:spPr>
              <a:xfrm rot="10800000">
                <a:off x="282633" y="3922094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3" name="Google Shape;343;p43"/>
              <p:cNvCxnSpPr/>
              <p:nvPr/>
            </p:nvCxnSpPr>
            <p:spPr>
              <a:xfrm rot="10800000">
                <a:off x="282633" y="4269757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4" name="Google Shape;344;p43"/>
              <p:cNvCxnSpPr/>
              <p:nvPr/>
            </p:nvCxnSpPr>
            <p:spPr>
              <a:xfrm rot="10800000">
                <a:off x="283066" y="4607028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45" name="Google Shape;345;p43"/>
            <p:cNvSpPr txBox="1"/>
            <p:nvPr/>
          </p:nvSpPr>
          <p:spPr>
            <a:xfrm>
              <a:off x="2532450" y="2553357"/>
              <a:ext cx="3083400" cy="2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Description</a:t>
              </a:r>
              <a:endParaRPr b="1" i="0" sz="1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346" name="Google Shape;346;p43"/>
            <p:cNvSpPr txBox="1"/>
            <p:nvPr/>
          </p:nvSpPr>
          <p:spPr>
            <a:xfrm>
              <a:off x="6080700" y="2553357"/>
              <a:ext cx="1939500" cy="2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Data Type</a:t>
              </a:r>
              <a:endParaRPr b="1" i="0" sz="1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descr="A chart showing who is responsible, accountable, consulted, and informed in regard to project tasks and stages. " id="347" name="Google Shape;347;p43"/>
            <p:cNvSpPr txBox="1"/>
            <p:nvPr/>
          </p:nvSpPr>
          <p:spPr>
            <a:xfrm>
              <a:off x="283125" y="2892050"/>
              <a:ext cx="10323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Age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8" name="Google Shape;348;p43"/>
            <p:cNvSpPr txBox="1"/>
            <p:nvPr/>
          </p:nvSpPr>
          <p:spPr>
            <a:xfrm>
              <a:off x="2532492" y="2895186"/>
              <a:ext cx="30834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Age of the employee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9" name="Google Shape;349;p43"/>
            <p:cNvSpPr txBox="1"/>
            <p:nvPr/>
          </p:nvSpPr>
          <p:spPr>
            <a:xfrm>
              <a:off x="6243095" y="2885475"/>
              <a:ext cx="15768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Numeric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0" name="Google Shape;350;p43"/>
            <p:cNvSpPr txBox="1"/>
            <p:nvPr/>
          </p:nvSpPr>
          <p:spPr>
            <a:xfrm>
              <a:off x="283125" y="3243900"/>
              <a:ext cx="10323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Department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1" name="Google Shape;351;p43"/>
            <p:cNvSpPr txBox="1"/>
            <p:nvPr/>
          </p:nvSpPr>
          <p:spPr>
            <a:xfrm>
              <a:off x="2532456" y="3234275"/>
              <a:ext cx="30834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Department of the employee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2" name="Google Shape;352;p43"/>
            <p:cNvSpPr txBox="1"/>
            <p:nvPr/>
          </p:nvSpPr>
          <p:spPr>
            <a:xfrm>
              <a:off x="6243120" y="3236773"/>
              <a:ext cx="15768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String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3" name="Google Shape;353;p43"/>
            <p:cNvSpPr txBox="1"/>
            <p:nvPr/>
          </p:nvSpPr>
          <p:spPr>
            <a:xfrm>
              <a:off x="283125" y="3582600"/>
              <a:ext cx="10323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Education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4" name="Google Shape;354;p43"/>
            <p:cNvSpPr txBox="1"/>
            <p:nvPr/>
          </p:nvSpPr>
          <p:spPr>
            <a:xfrm>
              <a:off x="2532492" y="3578098"/>
              <a:ext cx="30834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Education level of the employee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5" name="Google Shape;355;p43"/>
            <p:cNvSpPr txBox="1"/>
            <p:nvPr/>
          </p:nvSpPr>
          <p:spPr>
            <a:xfrm>
              <a:off x="6243120" y="3569455"/>
              <a:ext cx="15768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String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6" name="Google Shape;356;p43"/>
            <p:cNvSpPr txBox="1"/>
            <p:nvPr/>
          </p:nvSpPr>
          <p:spPr>
            <a:xfrm>
              <a:off x="283125" y="3921300"/>
              <a:ext cx="10323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Daily Rate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7" name="Google Shape;357;p43"/>
            <p:cNvSpPr txBox="1"/>
            <p:nvPr/>
          </p:nvSpPr>
          <p:spPr>
            <a:xfrm>
              <a:off x="2532491" y="3959252"/>
              <a:ext cx="30834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Daily Salary Rate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8" name="Google Shape;358;p43"/>
            <p:cNvSpPr txBox="1"/>
            <p:nvPr/>
          </p:nvSpPr>
          <p:spPr>
            <a:xfrm>
              <a:off x="6243120" y="3925325"/>
              <a:ext cx="15768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Numeric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9" name="Google Shape;359;p43"/>
            <p:cNvSpPr txBox="1"/>
            <p:nvPr/>
          </p:nvSpPr>
          <p:spPr>
            <a:xfrm>
              <a:off x="283125" y="4273150"/>
              <a:ext cx="10323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Attrition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0" name="Google Shape;360;p43"/>
            <p:cNvSpPr txBox="1"/>
            <p:nvPr/>
          </p:nvSpPr>
          <p:spPr>
            <a:xfrm>
              <a:off x="2532492" y="4283050"/>
              <a:ext cx="30834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Attrition Status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1" name="Google Shape;361;p43"/>
            <p:cNvSpPr txBox="1"/>
            <p:nvPr/>
          </p:nvSpPr>
          <p:spPr>
            <a:xfrm>
              <a:off x="6243120" y="4266570"/>
              <a:ext cx="15768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Boolean</a:t>
              </a:r>
              <a:endPara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descr="A chart showing who is responsible, accountable, consulted, and informed in regard to project tasks and stages. " id="362" name="Google Shape;362;p43"/>
          <p:cNvSpPr txBox="1"/>
          <p:nvPr/>
        </p:nvSpPr>
        <p:spPr>
          <a:xfrm>
            <a:off x="283125" y="1370650"/>
            <a:ext cx="158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Column Name</a:t>
            </a:r>
            <a:endParaRPr b="1" i="0" sz="1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3" name="Google Shape;363;p43"/>
          <p:cNvCxnSpPr/>
          <p:nvPr/>
        </p:nvCxnSpPr>
        <p:spPr>
          <a:xfrm>
            <a:off x="272175" y="1372288"/>
            <a:ext cx="7800" cy="3156300"/>
          </a:xfrm>
          <a:prstGeom prst="straightConnector1">
            <a:avLst/>
          </a:prstGeom>
          <a:noFill/>
          <a:ln cap="flat" cmpd="sng" w="9525">
            <a:solidFill>
              <a:srgbClr val="1C202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43"/>
          <p:cNvCxnSpPr/>
          <p:nvPr/>
        </p:nvCxnSpPr>
        <p:spPr>
          <a:xfrm>
            <a:off x="2326550" y="1371375"/>
            <a:ext cx="7800" cy="3156300"/>
          </a:xfrm>
          <a:prstGeom prst="straightConnector1">
            <a:avLst/>
          </a:prstGeom>
          <a:noFill/>
          <a:ln cap="flat" cmpd="sng" w="9525">
            <a:solidFill>
              <a:srgbClr val="1C202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3"/>
          <p:cNvCxnSpPr/>
          <p:nvPr/>
        </p:nvCxnSpPr>
        <p:spPr>
          <a:xfrm>
            <a:off x="5845550" y="1371363"/>
            <a:ext cx="7800" cy="3156300"/>
          </a:xfrm>
          <a:prstGeom prst="straightConnector1">
            <a:avLst/>
          </a:prstGeom>
          <a:noFill/>
          <a:ln cap="flat" cmpd="sng" w="9525">
            <a:solidFill>
              <a:srgbClr val="1C202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3"/>
          <p:cNvCxnSpPr/>
          <p:nvPr/>
        </p:nvCxnSpPr>
        <p:spPr>
          <a:xfrm>
            <a:off x="8864025" y="1371363"/>
            <a:ext cx="7800" cy="3156300"/>
          </a:xfrm>
          <a:prstGeom prst="straightConnector1">
            <a:avLst/>
          </a:prstGeom>
          <a:noFill/>
          <a:ln cap="flat" cmpd="sng" w="9525">
            <a:solidFill>
              <a:srgbClr val="1C202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44"/>
          <p:cNvSpPr txBox="1"/>
          <p:nvPr>
            <p:ph type="title"/>
          </p:nvPr>
        </p:nvSpPr>
        <p:spPr>
          <a:xfrm>
            <a:off x="367350" y="457200"/>
            <a:ext cx="5622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 Cleaning / Preprocessing</a:t>
            </a:r>
            <a:endParaRPr/>
          </a:p>
        </p:txBody>
      </p:sp>
      <p:sp>
        <p:nvSpPr>
          <p:cNvPr id="373" name="Google Shape;373;p44"/>
          <p:cNvSpPr txBox="1"/>
          <p:nvPr>
            <p:ph idx="3" type="subTitle"/>
          </p:nvPr>
        </p:nvSpPr>
        <p:spPr>
          <a:xfrm>
            <a:off x="367350" y="1593725"/>
            <a:ext cx="5062800" cy="17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" sz="1500"/>
              <a:t>No missing values found in critical fields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" sz="1500"/>
              <a:t>Created derived fields 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     Age Group,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     Salary Band, 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     Satisfaction Score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" sz="1500"/>
              <a:t>Validated data consistency and distribution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"/>
          <p:cNvSpPr txBox="1"/>
          <p:nvPr>
            <p:ph idx="5" type="subTitle"/>
          </p:nvPr>
        </p:nvSpPr>
        <p:spPr>
          <a:xfrm>
            <a:off x="276075" y="3450262"/>
            <a:ext cx="24633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9" name="Google Shape;379;p45"/>
          <p:cNvSpPr txBox="1"/>
          <p:nvPr>
            <p:ph type="title"/>
          </p:nvPr>
        </p:nvSpPr>
        <p:spPr>
          <a:xfrm>
            <a:off x="276075" y="457200"/>
            <a:ext cx="7446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Insights </a:t>
            </a:r>
            <a:endParaRPr/>
          </a:p>
        </p:txBody>
      </p:sp>
      <p:sp>
        <p:nvSpPr>
          <p:cNvPr id="380" name="Google Shape;380;p45"/>
          <p:cNvSpPr txBox="1"/>
          <p:nvPr>
            <p:ph idx="4" type="body"/>
          </p:nvPr>
        </p:nvSpPr>
        <p:spPr>
          <a:xfrm>
            <a:off x="276075" y="3834325"/>
            <a:ext cx="246330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/>
              <a:t>Explains how age group is affecting the attrition rate.</a:t>
            </a:r>
            <a:endParaRPr sz="1200"/>
          </a:p>
        </p:txBody>
      </p:sp>
      <p:sp>
        <p:nvSpPr>
          <p:cNvPr id="381" name="Google Shape;381;p45"/>
          <p:cNvSpPr txBox="1"/>
          <p:nvPr>
            <p:ph idx="6" type="body"/>
          </p:nvPr>
        </p:nvSpPr>
        <p:spPr>
          <a:xfrm>
            <a:off x="3074775" y="3834325"/>
            <a:ext cx="246330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Satisfaction and attrition are negatively correlated</a:t>
            </a:r>
            <a:endParaRPr sz="1200"/>
          </a:p>
        </p:txBody>
      </p:sp>
      <p:sp>
        <p:nvSpPr>
          <p:cNvPr id="382" name="Google Shape;382;p45"/>
          <p:cNvSpPr txBox="1"/>
          <p:nvPr>
            <p:ph idx="7" type="subTitle"/>
          </p:nvPr>
        </p:nvSpPr>
        <p:spPr>
          <a:xfrm>
            <a:off x="3074775" y="3456034"/>
            <a:ext cx="24633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3" name="Google Shape;383;p45"/>
          <p:cNvSpPr txBox="1"/>
          <p:nvPr>
            <p:ph idx="8" type="body"/>
          </p:nvPr>
        </p:nvSpPr>
        <p:spPr>
          <a:xfrm>
            <a:off x="5873475" y="3834325"/>
            <a:ext cx="246330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Explains how overtime impacts attrition</a:t>
            </a:r>
            <a:endParaRPr sz="1200"/>
          </a:p>
        </p:txBody>
      </p:sp>
      <p:sp>
        <p:nvSpPr>
          <p:cNvPr id="384" name="Google Shape;384;p45"/>
          <p:cNvSpPr txBox="1"/>
          <p:nvPr>
            <p:ph idx="9" type="subTitle"/>
          </p:nvPr>
        </p:nvSpPr>
        <p:spPr>
          <a:xfrm>
            <a:off x="5873475" y="3450252"/>
            <a:ext cx="24633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03</a:t>
            </a:r>
            <a:endParaRPr/>
          </a:p>
        </p:txBody>
      </p:sp>
      <p:pic>
        <p:nvPicPr>
          <p:cNvPr descr="A modern glass building." id="385" name="Google Shape;385;p45"/>
          <p:cNvPicPr preferRelativeResize="0"/>
          <p:nvPr/>
        </p:nvPicPr>
        <p:blipFill rotWithShape="1">
          <a:blip r:embed="rId3">
            <a:alphaModFix/>
          </a:blip>
          <a:srcRect b="8664" l="0" r="0" t="8664"/>
          <a:stretch/>
        </p:blipFill>
        <p:spPr>
          <a:xfrm>
            <a:off x="276075" y="1517325"/>
            <a:ext cx="2463299" cy="157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spy clouds reflected on a glass building. " id="386" name="Google Shape;386;p45"/>
          <p:cNvPicPr preferRelativeResize="0"/>
          <p:nvPr/>
        </p:nvPicPr>
        <p:blipFill rotWithShape="1">
          <a:blip r:embed="rId4">
            <a:alphaModFix/>
          </a:blip>
          <a:srcRect b="16198" l="6200" r="6200" t="0"/>
          <a:stretch/>
        </p:blipFill>
        <p:spPr>
          <a:xfrm>
            <a:off x="3074775" y="1517325"/>
            <a:ext cx="2463301" cy="157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odern glass building reflecting the blue sky. " id="387" name="Google Shape;387;p45"/>
          <p:cNvPicPr preferRelativeResize="0"/>
          <p:nvPr/>
        </p:nvPicPr>
        <p:blipFill rotWithShape="1">
          <a:blip r:embed="rId5">
            <a:alphaModFix/>
          </a:blip>
          <a:srcRect b="16198" l="699" r="690" t="0"/>
          <a:stretch/>
        </p:blipFill>
        <p:spPr>
          <a:xfrm>
            <a:off x="5873475" y="1517325"/>
            <a:ext cx="2463300" cy="15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6075" y="1286153"/>
            <a:ext cx="2463300" cy="189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4775" y="1286166"/>
            <a:ext cx="2463300" cy="189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73475" y="1286166"/>
            <a:ext cx="2463300" cy="18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/>
              <a:t>Thank You!!</a:t>
            </a:r>
            <a:endParaRPr sz="5000"/>
          </a:p>
        </p:txBody>
      </p:sp>
      <p:sp>
        <p:nvSpPr>
          <p:cNvPr id="396" name="Google Shape;396;p4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7" name="Google Shape;397;p46"/>
          <p:cNvCxnSpPr/>
          <p:nvPr/>
        </p:nvCxnSpPr>
        <p:spPr>
          <a:xfrm rot="10800000">
            <a:off x="283720" y="46075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